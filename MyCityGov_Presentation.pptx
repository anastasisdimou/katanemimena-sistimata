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MyCityGov + NOC-ExternalService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Ψηφιακές υπηρεσίες δήμου | Παρουσίαση έργου (5–10')</a:t>
            </a:r>
          </a:p>
          <a:p>
            <a:r>
              <a:t>Ομάδα 3 ατόμων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Ρόλοι &amp; Δομή Παρουσίασης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Μέλος 1: Αρχιτεκτονική, Υποδομή &amp; Web Layer</a:t>
            </a:r>
          </a:p>
          <a:p>
            <a:pPr>
              <a:defRPr sz="2000"/>
            </a:pPr>
            <a:r>
              <a:t>Μέλος 2: Domain Model, Business Logic &amp; Database</a:t>
            </a:r>
          </a:p>
          <a:p>
            <a:pPr>
              <a:defRPr sz="2000"/>
            </a:pPr>
            <a:r>
              <a:t>Μέλος 3: Ασφάλεια &amp; Εξωτερικές Υπηρεσίες (NOC)</a:t>
            </a:r>
          </a:p>
          <a:p>
            <a:pPr>
              <a:defRPr sz="2000"/>
            </a:pPr>
            <a:r>
              <a:t>Στόχος: σύντομη κάλυψη χωρίς επικαλύψεις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1ο Μέλος: Αρχιτεκτονική &amp; Web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8521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Σκοπός: ψηφιοποίηση υπηρεσιών δήμου (αιτήματα/ραντεβού)</a:t>
            </a:r>
          </a:p>
          <a:p>
            <a:pPr>
              <a:defRPr sz="2000"/>
            </a:pPr>
            <a:r>
              <a:t>Layered αρχιτεκτονική: Presentation / Service / Repository (Spring Boot)</a:t>
            </a:r>
          </a:p>
          <a:p>
            <a:pPr>
              <a:defRPr sz="2000"/>
            </a:pPr>
            <a:r>
              <a:t>Web UI με Thymeleaf για φόρμες και λίστες</a:t>
            </a:r>
          </a:p>
          <a:p>
            <a:pPr>
              <a:defRPr sz="2000"/>
            </a:pPr>
            <a:r>
              <a:t>Responsive CSS για κινητά και desktop</a:t>
            </a:r>
          </a:p>
          <a:p>
            <a:pPr>
              <a:defRPr sz="2000"/>
            </a:pPr>
            <a:r>
              <a:t>REST API (/api/**) για τρίτες εφαρμογές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463040"/>
            <a:ext cx="4846320" cy="3291840"/>
          </a:xfrm>
          <a:prstGeom prst="rect">
            <a:avLst/>
          </a:prstGeom>
          <a:solidFill>
            <a:srgbClr val="F0F0F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A5A5A"/>
                </a:solidFill>
              </a:rPr>
              <a:t>[Screenshot: Διάγραμμα layered αρχιτεκτονικής]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Web UI &amp; Ροές Χρήστη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7607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Controllers: Homepage, Register/Login, Requests</a:t>
            </a:r>
          </a:p>
          <a:p>
            <a:pPr>
              <a:defRPr sz="2000"/>
            </a:pPr>
            <a:r>
              <a:t>Δυναμική απόδοση δεδομένων στα templates</a:t>
            </a:r>
          </a:p>
          <a:p>
            <a:pPr>
              <a:defRPr sz="2000"/>
            </a:pPr>
            <a:r>
              <a:t>Validation &amp; μηνύματα λαθών</a:t>
            </a:r>
          </a:p>
          <a:p>
            <a:pPr>
              <a:defRPr sz="2000"/>
            </a:pPr>
            <a:r>
              <a:t>Παράδειγμα ροής: Εγγραφή → Σύνδεση → Αίτημα/Ραντεβού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1280160"/>
            <a:ext cx="4937760" cy="2194560"/>
          </a:xfrm>
          <a:prstGeom prst="rect">
            <a:avLst/>
          </a:prstGeom>
          <a:solidFill>
            <a:srgbClr val="F0F0F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A5A5A"/>
                </a:solidFill>
              </a:rPr>
              <a:t>[Screenshot: Homepage / λίστα υπηρεσιών]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3749039"/>
            <a:ext cx="4937760" cy="2194560"/>
          </a:xfrm>
          <a:prstGeom prst="rect">
            <a:avLst/>
          </a:prstGeom>
          <a:solidFill>
            <a:srgbClr val="F0F0F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A5A5A"/>
                </a:solidFill>
              </a:rPr>
              <a:t>[Screenshot: Form εγγραφής ή ραντεβού]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2ο Μέλος: Μοντέλο Δεδομένων &amp; Βάση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7607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Οντότητες: User, Request, Appointment, ServiceDepartment</a:t>
            </a:r>
          </a:p>
          <a:p>
            <a:pPr>
              <a:defRPr sz="2000"/>
            </a:pPr>
            <a:r>
              <a:t>Σχέσεις One-to-Many (ERD)</a:t>
            </a:r>
          </a:p>
          <a:p>
            <a:pPr>
              <a:defRPr sz="2000"/>
            </a:pPr>
            <a:r>
              <a:t>Χρήση app_users για αποφυγή reserved keyword</a:t>
            </a:r>
          </a:p>
          <a:p>
            <a:pPr>
              <a:defRPr sz="2000"/>
            </a:pPr>
            <a:r>
              <a:t>Enums: UserType, RequestStatus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1463040"/>
            <a:ext cx="4937760" cy="3291840"/>
          </a:xfrm>
          <a:prstGeom prst="rect">
            <a:avLst/>
          </a:prstGeom>
          <a:solidFill>
            <a:srgbClr val="F0F0F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A5A5A"/>
                </a:solidFill>
              </a:rPr>
              <a:t>[Screenshot: ERD / schema της βάσης]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Business Logic &amp;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7607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UserService: μοναδικότητα ΑΦΜ/Email/Τηλέφωνο, hashing κωδικών</a:t>
            </a:r>
          </a:p>
          <a:p>
            <a:pPr>
              <a:defRPr sz="2000"/>
            </a:pPr>
            <a:r>
              <a:t>RequestService &amp; AppointmentService: δημιουργία, ανάθεση, SLA</a:t>
            </a:r>
          </a:p>
          <a:p>
            <a:pPr>
              <a:defRPr sz="2000"/>
            </a:pPr>
            <a:r>
              <a:t>InitializationService: αρχικά δεδομένα στην εκκίνηση</a:t>
            </a:r>
          </a:p>
          <a:p>
            <a:pPr>
              <a:defRPr sz="2000"/>
            </a:pPr>
            <a:r>
              <a:t>Repositories με JPA/Hibernate, JOIN FETCH για αποφυγή N+1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1463040"/>
            <a:ext cx="4937760" cy="3291840"/>
          </a:xfrm>
          <a:prstGeom prst="rect">
            <a:avLst/>
          </a:prstGeom>
          <a:solidFill>
            <a:srgbClr val="F0F0F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A5A5A"/>
                </a:solidFill>
              </a:rPr>
              <a:t>[Screenshot: Ροή υπηρεσίας ή απόσπασμα κώδικα service]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3ο Μέλος: Ασφάλεια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7607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Spring Security με 2 chains: UI (cookies) &amp; API (JWT)</a:t>
            </a:r>
          </a:p>
          <a:p>
            <a:pPr>
              <a:defRPr sz="2000"/>
            </a:pPr>
            <a:r>
              <a:t>UserDetailsService για φόρτωση χρήστη</a:t>
            </a:r>
          </a:p>
          <a:p>
            <a:pPr>
              <a:defRPr sz="2000"/>
            </a:pPr>
            <a:r>
              <a:t>Ρόλοι/δικαιώματα με @PreAuthorize και sec:authorize</a:t>
            </a:r>
          </a:p>
          <a:p>
            <a:pPr>
              <a:defRPr sz="2000"/>
            </a:pPr>
            <a:r>
              <a:t>Προστασία endpoints και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1463040"/>
            <a:ext cx="4937760" cy="3291840"/>
          </a:xfrm>
          <a:prstGeom prst="rect">
            <a:avLst/>
          </a:prstGeom>
          <a:solidFill>
            <a:srgbClr val="F0F0F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A5A5A"/>
                </a:solidFill>
              </a:rPr>
              <a:t>[Screenshot: SecurityConfig ή διάγραμμα ροής login]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NOC-ExternalService &amp; Ενσωμάτωση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7607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NOC ως simulator κυβερνητικών συστημάτων</a:t>
            </a:r>
          </a:p>
          <a:p>
            <a:pPr>
              <a:defRPr sz="2000"/>
            </a:pPr>
            <a:r>
              <a:t>Gov Login (ΑΦΜ+PIN) μέσω external auth</a:t>
            </a:r>
          </a:p>
          <a:p>
            <a:pPr>
              <a:defRPr sz="2000"/>
            </a:pPr>
            <a:r>
              <a:t>Phone validation για κινητό</a:t>
            </a:r>
          </a:p>
          <a:p>
            <a:pPr>
              <a:defRPr sz="2000"/>
            </a:pPr>
            <a:r>
              <a:t>Ports &amp; Adapters: interface + RestTemplate (GovAuthPortImpl)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1463040"/>
            <a:ext cx="4937760" cy="3291840"/>
          </a:xfrm>
          <a:prstGeom prst="rect">
            <a:avLst/>
          </a:prstGeom>
          <a:solidFill>
            <a:srgbClr val="F0F0F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A5A5A"/>
                </a:solidFill>
              </a:rPr>
              <a:t>[Screenshot: NOC API call / sequence / ports-adapters]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Κλείσιμο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Live demo: Εγγραφή → Login → Αίτημα/Ραντεβού</a:t>
            </a:r>
          </a:p>
          <a:p>
            <a:pPr>
              <a:defRPr sz="2000"/>
            </a:pPr>
            <a:r>
              <a:t>Κύρια σημεία: αρχιτεκτονική, ασφάλεια, εξωτερικές υπηρεσίες</a:t>
            </a:r>
          </a:p>
          <a:p>
            <a:pPr>
              <a:defRPr sz="2000"/>
            </a:pPr>
            <a:r>
              <a:t>Ερωτήσεις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0" y="3840480"/>
            <a:ext cx="6035040" cy="2011680"/>
          </a:xfrm>
          <a:prstGeom prst="rect">
            <a:avLst/>
          </a:prstGeom>
          <a:solidFill>
            <a:srgbClr val="F0F0F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A5A5A"/>
                </a:solidFill>
              </a:rPr>
              <a:t>[Placeholder: εικόνα demo ή Thank you]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